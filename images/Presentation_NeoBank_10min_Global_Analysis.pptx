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D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NeoBank User Engagement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Strongest behavioural signals associated with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engagement, retention and churn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ENGAGEMENT  →  RETENTION  →  CHURN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10-minute global analysis  ·  Observational evidence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investigated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hypotheses across three KPI chapters. We prioritise the strongest and most instructive findings.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2926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Transaction frequency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Crypto &amp; Premium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Notifications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Merchant category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Country over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2743200" cy="2926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Transaction frequency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Crypto &amp; Premium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Notifications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743200" cy="2926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Churn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Country / market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Transaction type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Failed / declined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 activity is the strongest and most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consistent behavioural signal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2926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0%  →  98.82%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 rate across frequency bands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(0 transactions → 51+)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Median: Engaged 23  ·  Non-engaged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dose-response. Remains strong after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excluding extreme frequencies.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2926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Large median gap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retained ≈ 17–34 transactions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Retained ≈ 136–141 transactions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Rank-biserial r ≈ 0.64–0.75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Robust to confounds and sensitivity checks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Premium and Crypto users show substantially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higher engagement and retention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Crypto · Engagement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+15.91 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43.02% vs 27.11%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· Engagement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+28.75 pp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57.46% vs 28.71%  ·  ~2×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11480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Crypto · Retention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+18.77 pp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57.95% vs 39.18%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697480"/>
            <a:ext cx="4114800" cy="1417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· Retention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+43.64 pp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834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84.28% vs 40.64%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Notifications appear important overall —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difference largely disappears once activity is considered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3774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+9.07 pp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notifications  29.64%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1+ notifications  38.72%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2377440"/>
          </a:xfrm>
          <a:prstGeom prst="rect">
            <a:avLst/>
          </a:prstGeom>
          <a:solidFill>
            <a:srgbClr val="FDF2F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After excluding zero-transaction users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+0.43 pp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notifications  55.19%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1+ notifications  55.62%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Retention shows the same pattern: weak univariate association that disappears after controlling for transaction activity.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not treat notification volume as a primary engagement or retention lever.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Churn varies substantially across markets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6.57% → 39.08%  ·  32.51 pp spread  ·  ~5.95×  ·  Pattern survives population and tenure checks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1463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Netherlands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39.08%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43200" cy="1463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34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Largest volume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Great Britain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2,040 churners · 41.1%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743200" cy="146304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34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Lowest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Malta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6.57%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Tenure-adjusted excess churn (largest signals)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Greece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+16.11 pp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0604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Netherlands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+16.00 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Hungary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+10.30 pp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Great Britain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+5.95 pp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Country is a useful segmentation and investigation signal — not a proven cause.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Some churn associations are real but heavily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intertwined with activity and recency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Dominant transaction type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73.03%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59.56%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CARD_PAYMENT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17.71%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D2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14.19%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114800" cy="25603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Important 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Highest-churn types also have substantially older last successful transactions (FEE ~205 days vs TRANSFER ~44 days).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Failed/declined behaviour differs between groups but is directionally inconsistent and temporally complex.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 these as behavioural context, not clean independent levers.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Priorities for investigation and segmentation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signal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069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 transaction activity as the primary early health metric for both engagement and retention.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High-value segments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892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and Crypto users show large, consistent differences. Protect and learn from them.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investigation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715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GB for absolute volume. Greece, Netherlands and Hungary for tenure-adjusted excess signal.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Early low-activity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538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with ≤1 transaction in first 30 days (~19% of base) show a meaningful engagement gap.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the analysis tells us — and what it does not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33832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can say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Several behaviours show strong observed associations with engagement, retention or churn.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Transaction activity is particularly strong and consistent across KPIs.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Some differences remain robust after population and tenure checks.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Some apparent relationships weaken substantially when activity is considered.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023360" cy="3383280"/>
          </a:xfrm>
          <a:prstGeom prst="rect">
            <a:avLst/>
          </a:prstGeom>
          <a:solidFill>
            <a:srgbClr val="FDF2F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1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cannot say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Crypto causes higher retention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Premium causes higher engagement or retention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Notifications cause engagement or retention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Country causes churn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 Transaction type or failed transactions independently drive churn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760" y="4864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“where is the signal?” to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“what explains the differences?”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645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 &amp; learn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High-value segments (Premium, Crypto)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743200" cy="1645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Investigate markets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GB volume + high-excess countries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43200" cy="1645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516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D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Pilot early intervention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Low-activity users in first 30 days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0D1D2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evidence now points to where behavioural differences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are strongest — and where product attention is most likely to matter.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NeoBank User Engagement Analysis — Global View</dc:title>
  <dc:subject>10-minute Product Analytics presentation</dc:subject>
  <dc:creator>NeoBank Product Analytics</dc:creator>
  <cp:lastModifiedBy>NeoBank Product Analytics</cp:lastModifiedBy>
  <cp:revision>1</cp:revision>
  <dcterms:created xsi:type="dcterms:W3CDTF">2026-08-23T15:59:09Z</dcterms:created>
  <dcterms:modified xsi:type="dcterms:W3CDTF">2026-08-23T15:59:09Z</dcterms:modified>
</cp:coreProperties>
</file>
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D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H13  ·  Country × Churn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Does where a user lives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influence churn?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found substantial differences across markets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but the question is whether those differences are robust enough to act on.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H13 · Country × Churn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4892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Churn varies substantially across markets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1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6.57%  →  39.08%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32.51 pp spread  ·  ~5.95× difference  ·  21 countries with ≥100 users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7863840" cy="164592"/>
          </a:xfrm>
          <a:prstGeom prst="rect">
            <a:avLst/>
          </a:prstGeom>
          <a:solidFill>
            <a:srgbClr val="E7E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783080"/>
            <a:ext cx="256032" cy="256032"/>
          </a:xfrm>
          <a:prstGeom prst="ellipse">
            <a:avLst/>
          </a:prstGeom>
          <a:solidFill>
            <a:srgbClr val="263746"/>
          </a:solidFill>
          <a:ln/>
        </p:spPr>
      </p:sp>
      <p:sp>
        <p:nvSpPr>
          <p:cNvPr id="9" name="Shape 7"/>
          <p:cNvSpPr/>
          <p:nvPr/>
        </p:nvSpPr>
        <p:spPr>
          <a:xfrm>
            <a:off x="8275320" y="1783080"/>
            <a:ext cx="256032" cy="256032"/>
          </a:xfrm>
          <a:prstGeom prst="ellipse">
            <a:avLst/>
          </a:prstGeom>
          <a:solidFill>
            <a:srgbClr val="EA516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MT  6.57%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51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  39.08%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2651760" cy="12801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39.08%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2743200"/>
            <a:ext cx="2651760" cy="12801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32.30%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118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Largest volume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743200"/>
            <a:ext cx="2651760" cy="12801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6.57%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Lowest 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= 21 markets  ·  18,681 users  ·  4,769 churners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H13 · Country × Churn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4892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pattern survives larger-market thresholds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 we raise the minimum population requirement, overall weighted churn barely moves.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606040" cy="1645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25.53%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≥100 users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606040" cy="1645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645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25.26%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≥250 users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06040" cy="1645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645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25.36%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5508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≥500 users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1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25.53%  →  25.26%  →  25.36%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Country differences are not explained simply by tiny market samples.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Threshold sensitivity tested at 100+, 250+ and 500+ users.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H13 · Country × Churn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4892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Country differences persist after accounting for tenure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Observed churn remains materially above what tenure composition alone would predict.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1353312"/>
            <a:ext cx="27432" cy="274320"/>
          </a:xfrm>
          <a:prstGeom prst="rect">
            <a:avLst/>
          </a:prstGeom>
          <a:solidFill>
            <a:srgbClr val="9AA0A8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1353312"/>
            <a:ext cx="4501134" cy="274320"/>
          </a:xfrm>
          <a:prstGeom prst="rect">
            <a:avLst/>
          </a:prstGeom>
          <a:solidFill>
            <a:srgbClr val="EA5160"/>
          </a:solidFill>
          <a:ln/>
        </p:spPr>
      </p:sp>
      <p:sp>
        <p:nvSpPr>
          <p:cNvPr id="9" name="Text 7"/>
          <p:cNvSpPr/>
          <p:nvPr/>
        </p:nvSpPr>
        <p:spPr>
          <a:xfrm>
            <a:off x="6055614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+16.11 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1993392"/>
            <a:ext cx="27432" cy="274320"/>
          </a:xfrm>
          <a:prstGeom prst="rect">
            <a:avLst/>
          </a:prstGeom>
          <a:solidFill>
            <a:srgbClr val="9AA0A8"/>
          </a:solidFill>
          <a:ln/>
        </p:spPr>
      </p:sp>
      <p:sp>
        <p:nvSpPr>
          <p:cNvPr id="12" name="Shape 10"/>
          <p:cNvSpPr/>
          <p:nvPr/>
        </p:nvSpPr>
        <p:spPr>
          <a:xfrm>
            <a:off x="1417320" y="1993392"/>
            <a:ext cx="4470400" cy="274320"/>
          </a:xfrm>
          <a:prstGeom prst="rect">
            <a:avLst/>
          </a:prstGeom>
          <a:solidFill>
            <a:srgbClr val="EA5160"/>
          </a:solidFill>
          <a:ln/>
        </p:spPr>
      </p:sp>
      <p:sp>
        <p:nvSpPr>
          <p:cNvPr id="13" name="Text 11"/>
          <p:cNvSpPr/>
          <p:nvPr/>
        </p:nvSpPr>
        <p:spPr>
          <a:xfrm>
            <a:off x="602488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+16.00 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2633472"/>
            <a:ext cx="27432" cy="274320"/>
          </a:xfrm>
          <a:prstGeom prst="rect">
            <a:avLst/>
          </a:prstGeom>
          <a:solidFill>
            <a:srgbClr val="9AA0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417320" y="2633472"/>
            <a:ext cx="2877820" cy="274320"/>
          </a:xfrm>
          <a:prstGeom prst="rect">
            <a:avLst/>
          </a:prstGeom>
          <a:solidFill>
            <a:srgbClr val="EA5160"/>
          </a:solidFill>
          <a:ln/>
        </p:spPr>
      </p:sp>
      <p:sp>
        <p:nvSpPr>
          <p:cNvPr id="17" name="Text 15"/>
          <p:cNvSpPr/>
          <p:nvPr/>
        </p:nvSpPr>
        <p:spPr>
          <a:xfrm>
            <a:off x="443230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+10.30 pp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71600" y="3273552"/>
            <a:ext cx="27432" cy="274320"/>
          </a:xfrm>
          <a:prstGeom prst="rect">
            <a:avLst/>
          </a:prstGeom>
          <a:solidFill>
            <a:srgbClr val="9AA0A8"/>
          </a:solidFill>
          <a:ln/>
        </p:spPr>
      </p:sp>
      <p:sp>
        <p:nvSpPr>
          <p:cNvPr id="20" name="Shape 18"/>
          <p:cNvSpPr/>
          <p:nvPr/>
        </p:nvSpPr>
        <p:spPr>
          <a:xfrm>
            <a:off x="1417320" y="3273552"/>
            <a:ext cx="1662430" cy="274320"/>
          </a:xfrm>
          <a:prstGeom prst="rect">
            <a:avLst/>
          </a:prstGeom>
          <a:solidFill>
            <a:srgbClr val="EA5160"/>
          </a:solidFill>
          <a:ln/>
        </p:spPr>
      </p:sp>
      <p:sp>
        <p:nvSpPr>
          <p:cNvPr id="21" name="Text 19"/>
          <p:cNvSpPr/>
          <p:nvPr/>
        </p:nvSpPr>
        <p:spPr>
          <a:xfrm>
            <a:off x="3216910" y="3200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+5.95 pp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signal remains after tenure adjustment. Largest excess in GR, NL and HU. GB also remains above expected.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H13 · Country × Churn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4892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highest churn rate isn’t necessarily the biggest opportunity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200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rates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NL  ·  GR  ·  HU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diagnostic signals.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 for identifying markets with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unusually high churn after tenure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adjustment.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3200400"/>
          </a:xfrm>
          <a:prstGeom prst="rect">
            <a:avLst/>
          </a:prstGeom>
          <a:solidFill>
            <a:srgbClr val="FDF2F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51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Largest absolute opportunity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Great Britain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32.30% churn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2,040 churners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41.1% of all churners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 makes GB the primary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business-volume priority.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H13 · Country × Churn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4892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Country is a signal — not a cause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differs substantially across markets.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74320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ROBUST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Differences remain after population and tenure checks.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743200" cy="1554480"/>
          </a:xfrm>
          <a:prstGeom prst="rect">
            <a:avLst/>
          </a:prstGeom>
          <a:solidFill>
            <a:srgbClr val="FDF2F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1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PROVEN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Country itself causes churn.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Possible explanations to investigate (not findings)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Product experience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Payment infrastructure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Customer mix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Acquisition / onboarding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Country should be used to identify where to investigate, not as an explanation by itself.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H13 · Country × Churn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4892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country from a reporting dimension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into an investigation tool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88920" cy="21945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1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PRIORITISE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Largest absolute churn opportunity: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2,040 churners / 41.1% of all churners.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88920" cy="21945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325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1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645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INVESTIGATE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2057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  ·  NL  ·  HU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Largest tenure-adjusted excess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signals.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788920" cy="21945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325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1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645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057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high- and low-churn markets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surface differences in product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experience, onboarding, payments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customer mix.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822960"/>
          </a:xfrm>
          <a:prstGeom prst="rect">
            <a:avLst/>
          </a:prstGeom>
          <a:solidFill>
            <a:srgbClr val="0D1D2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94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Country doesn’t tell us why users churn.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tells us where to look next.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H13 — Does Country Influence User Churn?</dc:title>
  <dc:subject>5-minute Product Analytics presentation</dc:subject>
  <dc:creator>NeoBank Product Analytics</dc:creator>
  <cp:lastModifiedBy>NeoBank Product Analytics</cp:lastModifiedBy>
  <cp:revision>1</cp:revision>
  <dcterms:created xsi:type="dcterms:W3CDTF">2026-08-23T08:46:56Z</dcterms:created>
  <dcterms:modified xsi:type="dcterms:W3CDTF">2026-08-23T08:46:56Z</dcterms:modified>
</cp:coreProperties>
</file>